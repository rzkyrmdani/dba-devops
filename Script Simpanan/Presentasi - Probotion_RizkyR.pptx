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1" r:id="rId7"/>
    <p:sldId id="268" r:id="rId8"/>
    <p:sldId id="267" r:id="rId9"/>
    <p:sldId id="262" r:id="rId10"/>
    <p:sldId id="263" r:id="rId11"/>
    <p:sldId id="264" r:id="rId12"/>
    <p:sldId id="272" r:id="rId13"/>
    <p:sldId id="265" r:id="rId14"/>
    <p:sldId id="273" r:id="rId15"/>
    <p:sldId id="266" r:id="rId16"/>
    <p:sldId id="274" r:id="rId17"/>
    <p:sldId id="261" r:id="rId18"/>
    <p:sldId id="269" r:id="rId19"/>
  </p:sldIdLst>
  <p:sldSz cx="18288000" cy="10287000"/>
  <p:notesSz cx="6858000" cy="9144000"/>
  <p:embeddedFontLst>
    <p:embeddedFont>
      <p:font typeface="Georgia Pro Condensed Light" panose="020B0604020202020204" charset="0"/>
      <p:regular r:id="rId21"/>
    </p:embeddedFont>
    <p:embeddedFont>
      <p:font typeface="TT Interphases" panose="020B0604020202020204" charset="0"/>
      <p:regular r:id="rId22"/>
    </p:embeddedFont>
    <p:embeddedFont>
      <p:font typeface="TT Interphase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8C9FD-6F69-4CDB-AF0F-7F8A51E5E611}" type="datetimeFigureOut">
              <a:rPr lang="en-ID" smtClean="0"/>
              <a:t>31/03/2026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2BE3A-CED7-409D-9D30-7FD3DD1D3E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365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2BE3A-CED7-409D-9D30-7FD3DD1D3EC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4678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1562100"/>
            <a:ext cx="8629650" cy="8724900"/>
            <a:chOff x="0" y="0"/>
            <a:chExt cx="2482140" cy="2509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2140" cy="2509537"/>
            </a:xfrm>
            <a:custGeom>
              <a:avLst/>
              <a:gdLst/>
              <a:ahLst/>
              <a:cxnLst/>
              <a:rect l="l" t="t" r="r" b="b"/>
              <a:pathLst>
                <a:path w="2482140" h="2509537">
                  <a:moveTo>
                    <a:pt x="0" y="0"/>
                  </a:moveTo>
                  <a:lnTo>
                    <a:pt x="2482140" y="0"/>
                  </a:lnTo>
                  <a:lnTo>
                    <a:pt x="2482140" y="2509537"/>
                  </a:lnTo>
                  <a:lnTo>
                    <a:pt x="0" y="2509537"/>
                  </a:lnTo>
                  <a:close/>
                </a:path>
              </a:pathLst>
            </a:custGeom>
            <a:blipFill>
              <a:blip r:embed="rId2"/>
              <a:stretch>
                <a:fillRect t="-143" b="-14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161925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Presentasi Probation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9271451"/>
            <a:ext cx="5448300" cy="44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54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RIZKY RAMDANI</a:t>
            </a:r>
          </a:p>
        </p:txBody>
      </p:sp>
      <p:sp>
        <p:nvSpPr>
          <p:cNvPr id="6" name="AutoShape 6"/>
          <p:cNvSpPr/>
          <p:nvPr/>
        </p:nvSpPr>
        <p:spPr>
          <a:xfrm>
            <a:off x="666750" y="1263650"/>
            <a:ext cx="169545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666750" y="695325"/>
            <a:ext cx="169545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sz="2100" b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IT BEM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4154805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Day to day (Keseharian)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3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01163" y="1548421"/>
            <a:ext cx="68865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Monitoring </a:t>
            </a: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Sistem</a:t>
            </a:r>
            <a:endParaRPr lang="en-US" sz="7200" dirty="0">
              <a:solidFill>
                <a:srgbClr val="F5F5F5"/>
              </a:solidFill>
              <a:latin typeface="Georgia Pro Condensed Light"/>
              <a:ea typeface="Georgia Pro Condensed Light"/>
              <a:cs typeface="Georgia Pro Condensed Light"/>
              <a:sym typeface="Georgia Pro Condensed Ligh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81200" y="3518636"/>
            <a:ext cx="3733800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36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CPU</a:t>
            </a:r>
          </a:p>
        </p:txBody>
      </p:sp>
      <p:sp>
        <p:nvSpPr>
          <p:cNvPr id="8" name="Oval 47">
            <a:extLst>
              <a:ext uri="{FF2B5EF4-FFF2-40B4-BE49-F238E27FC236}">
                <a16:creationId xmlns:a16="http://schemas.microsoft.com/office/drawing/2014/main" id="{72E896DC-C691-F841-F6C9-AE3E0171BD08}"/>
              </a:ext>
            </a:extLst>
          </p:cNvPr>
          <p:cNvSpPr>
            <a:spLocks noChangeAspect="1"/>
          </p:cNvSpPr>
          <p:nvPr/>
        </p:nvSpPr>
        <p:spPr>
          <a:xfrm>
            <a:off x="839884" y="7423949"/>
            <a:ext cx="732473" cy="73247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Oval 47">
            <a:extLst>
              <a:ext uri="{FF2B5EF4-FFF2-40B4-BE49-F238E27FC236}">
                <a16:creationId xmlns:a16="http://schemas.microsoft.com/office/drawing/2014/main" id="{E2D1E6A9-E575-CB5C-8AEC-EFB4647ECEF8}"/>
              </a:ext>
            </a:extLst>
          </p:cNvPr>
          <p:cNvSpPr>
            <a:spLocks noChangeAspect="1"/>
          </p:cNvSpPr>
          <p:nvPr/>
        </p:nvSpPr>
        <p:spPr>
          <a:xfrm>
            <a:off x="839887" y="3249061"/>
            <a:ext cx="732473" cy="73247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97474EBB-5B67-6DBF-2AF9-A3B0E0ADDBEC}"/>
              </a:ext>
            </a:extLst>
          </p:cNvPr>
          <p:cNvSpPr txBox="1"/>
          <p:nvPr/>
        </p:nvSpPr>
        <p:spPr>
          <a:xfrm>
            <a:off x="1949245" y="4535433"/>
            <a:ext cx="3733800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36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MEMORY</a:t>
            </a:r>
          </a:p>
        </p:txBody>
      </p:sp>
      <p:sp>
        <p:nvSpPr>
          <p:cNvPr id="12" name="Oval 47">
            <a:extLst>
              <a:ext uri="{FF2B5EF4-FFF2-40B4-BE49-F238E27FC236}">
                <a16:creationId xmlns:a16="http://schemas.microsoft.com/office/drawing/2014/main" id="{EE22E5FF-5057-3C6B-5258-4E92725257AA}"/>
              </a:ext>
            </a:extLst>
          </p:cNvPr>
          <p:cNvSpPr>
            <a:spLocks noChangeAspect="1"/>
          </p:cNvSpPr>
          <p:nvPr/>
        </p:nvSpPr>
        <p:spPr>
          <a:xfrm>
            <a:off x="839887" y="4247927"/>
            <a:ext cx="732473" cy="73247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B0333C4D-3472-5A83-4852-FA5D1585E971}"/>
              </a:ext>
            </a:extLst>
          </p:cNvPr>
          <p:cNvSpPr txBox="1"/>
          <p:nvPr/>
        </p:nvSpPr>
        <p:spPr>
          <a:xfrm>
            <a:off x="1981200" y="5528878"/>
            <a:ext cx="3733800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36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DISK</a:t>
            </a:r>
          </a:p>
        </p:txBody>
      </p:sp>
      <p:sp>
        <p:nvSpPr>
          <p:cNvPr id="11" name="Oval 47">
            <a:extLst>
              <a:ext uri="{FF2B5EF4-FFF2-40B4-BE49-F238E27FC236}">
                <a16:creationId xmlns:a16="http://schemas.microsoft.com/office/drawing/2014/main" id="{C26665C4-7180-BF14-5445-40E52998B577}"/>
              </a:ext>
            </a:extLst>
          </p:cNvPr>
          <p:cNvSpPr>
            <a:spLocks noChangeAspect="1"/>
          </p:cNvSpPr>
          <p:nvPr/>
        </p:nvSpPr>
        <p:spPr>
          <a:xfrm>
            <a:off x="839886" y="5306601"/>
            <a:ext cx="732473" cy="73247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C72F237D-23E4-6079-E3F0-113C2E79674C}"/>
              </a:ext>
            </a:extLst>
          </p:cNvPr>
          <p:cNvSpPr txBox="1"/>
          <p:nvPr/>
        </p:nvSpPr>
        <p:spPr>
          <a:xfrm>
            <a:off x="1981200" y="6582578"/>
            <a:ext cx="5181600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36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Longops</a:t>
            </a:r>
            <a:r>
              <a:rPr lang="en-US" sz="36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/ Blocking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33D11194-5F42-D0D4-746C-BBA40532B41B}"/>
              </a:ext>
            </a:extLst>
          </p:cNvPr>
          <p:cNvSpPr txBox="1"/>
          <p:nvPr/>
        </p:nvSpPr>
        <p:spPr>
          <a:xfrm>
            <a:off x="1981200" y="7759459"/>
            <a:ext cx="3733800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36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Status Database</a:t>
            </a:r>
          </a:p>
        </p:txBody>
      </p:sp>
      <p:sp>
        <p:nvSpPr>
          <p:cNvPr id="16" name="Oval 47">
            <a:extLst>
              <a:ext uri="{FF2B5EF4-FFF2-40B4-BE49-F238E27FC236}">
                <a16:creationId xmlns:a16="http://schemas.microsoft.com/office/drawing/2014/main" id="{D5AC0211-6AF7-5403-5B15-9FB614F79174}"/>
              </a:ext>
            </a:extLst>
          </p:cNvPr>
          <p:cNvSpPr>
            <a:spLocks noChangeAspect="1"/>
          </p:cNvSpPr>
          <p:nvPr/>
        </p:nvSpPr>
        <p:spPr>
          <a:xfrm>
            <a:off x="839885" y="6365275"/>
            <a:ext cx="732473" cy="73247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Troubleshooting Server Issues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750" y="6972300"/>
            <a:ext cx="6886575" cy="2203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</a:pP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identifikasi</a:t>
            </a:r>
            <a:r>
              <a:rPr lang="en-US" sz="2100" b="1" dirty="0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dan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penanganan</a:t>
            </a:r>
            <a:r>
              <a:rPr lang="en-US" sz="2100" b="1" dirty="0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masalah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yang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terjadi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pada database dan server. Studi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khasus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DB NISP dan FAILOVER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Postgresql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Langkah-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langkah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troubleshoot-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informasikan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lalu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troubleshoot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secapatnya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menghindari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downtime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berlebih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selanjutnya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Analisa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yang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terjadi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FB0CFAE-1898-1F6E-AF76-2304B6B7A4F8}"/>
              </a:ext>
            </a:extLst>
          </p:cNvPr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249936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Maintenance Database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9" y="7200900"/>
            <a:ext cx="6886575" cy="1087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memastikan</a:t>
            </a:r>
            <a:r>
              <a:rPr lang="en-US" sz="2100" b="1" dirty="0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performa</a:t>
            </a:r>
            <a:r>
              <a:rPr lang="en-US" sz="2100" b="1" dirty="0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optimal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dari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meliputi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pengecekan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longops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cleansing storage, housekeep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cpu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dan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31109-D5B1-406B-4C28-A0D57324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C4CA2D-D56C-5F9E-D45E-69F5714DFAF5}"/>
              </a:ext>
            </a:extLst>
          </p:cNvPr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254A4D0-37DE-ED59-8118-8E2FAC15194D}"/>
                </a:ext>
              </a:extLst>
            </p:cNvPr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52B0087A-02AE-6FE0-E371-3ED2826CF7CA}"/>
              </a:ext>
            </a:extLst>
          </p:cNvPr>
          <p:cNvSpPr txBox="1"/>
          <p:nvPr/>
        </p:nvSpPr>
        <p:spPr>
          <a:xfrm>
            <a:off x="666750" y="4154805"/>
            <a:ext cx="6886575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BAU (Business As Usual)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C6BE706-4EDD-300D-3407-A1F0BC2756B9}"/>
              </a:ext>
            </a:extLst>
          </p:cNvPr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077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34794" y="2579551"/>
            <a:ext cx="6886575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Instalasi</a:t>
            </a: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Database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9" y="7200900"/>
            <a:ext cx="6886575" cy="183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Instalasi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sesuai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permintaan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yang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di NRFR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jira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fi-FI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yang mengikuti SOP dan standar perusahaan. Instalasi ini untuk menyediakan environment database yang siap digunakan, baik untuk kebutuhan testing (UAT), maupun production.</a:t>
            </a:r>
            <a:endParaRPr lang="en-US" sz="2100" dirty="0">
              <a:solidFill>
                <a:srgbClr val="F5F5F5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49" y="2773011"/>
            <a:ext cx="68865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Upgrade Database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9" y="6512758"/>
            <a:ext cx="6886575" cy="183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Prosedur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upgrade minor dan patch update pada SQL Server sangat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penting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menjaga</a:t>
            </a:r>
            <a:r>
              <a:rPr lang="en-US" sz="2100" b="1" dirty="0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keamanan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serta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stabilitas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sistem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Proses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meliputi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persiapan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pelaksanaan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verifikasi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memastikan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berfungsi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baik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setelah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upgrade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dilakukan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48" y="3314700"/>
            <a:ext cx="68865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Audit </a:t>
            </a: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Bulanan</a:t>
            </a:r>
            <a:endParaRPr lang="en-US" sz="7200" dirty="0">
              <a:solidFill>
                <a:srgbClr val="F5F5F5"/>
              </a:solidFill>
              <a:latin typeface="Georgia Pro Condensed Light"/>
              <a:ea typeface="Georgia Pro Condensed Light"/>
              <a:cs typeface="Georgia Pro Condensed Light"/>
              <a:sym typeface="Georgia Pro Condensed Light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8" y="7851058"/>
            <a:ext cx="6886575" cy="715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Pelaksanaan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audit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bulanan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user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mengidentifikasi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akses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tidak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melindungi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49" y="1943100"/>
            <a:ext cx="6886575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Pengecekan</a:t>
            </a: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Performa Query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9" y="7124700"/>
            <a:ext cx="6886575" cy="145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Melakukan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pengecekan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query top paling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banyak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menggunakan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CPU dan Memory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dalam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kurun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waktu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1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bulan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kordinasi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skuad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meningkatkan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performa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query.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4292" y="201930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Startup Server UAT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50" y="6501765"/>
            <a:ext cx="6886575" cy="1087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Proses startup server UAT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melibatkan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beberapa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langkah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penting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memastikan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sistem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berfungsi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kembali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setelah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mengalami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server 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618D0-B0A2-2BDE-7889-AC894D0D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CF5EAAC-9169-1310-E9C4-A03182C11566}"/>
              </a:ext>
            </a:extLst>
          </p:cNvPr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B0675D1-CE11-5A38-3D86-E20EE4BA501F}"/>
                </a:ext>
              </a:extLst>
            </p:cNvPr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6EEEE5AB-D143-4EBB-D050-E7E0FFB6B279}"/>
              </a:ext>
            </a:extLst>
          </p:cNvPr>
          <p:cNvSpPr txBox="1"/>
          <p:nvPr/>
        </p:nvSpPr>
        <p:spPr>
          <a:xfrm>
            <a:off x="666750" y="4154805"/>
            <a:ext cx="6886575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Planning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829183A-75C6-BD41-D0F9-D2B67C4EAABA}"/>
              </a:ext>
            </a:extLst>
          </p:cNvPr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2405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90501"/>
            <a:ext cx="8991600" cy="9829795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6886575" cy="1034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Monitoring Query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838200" y="9410700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855406" y="7124700"/>
            <a:ext cx="5753100" cy="1459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</a:pP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Monitoring query yang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efektif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sangat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penting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deteksi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query lama pada server database.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adanya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monitoring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sangat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operasional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A7EF4-3B69-1A9D-3823-27486CF5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2D642DA-3DE6-B22F-DBE4-36C2ABE06CC7}"/>
              </a:ext>
            </a:extLst>
          </p:cNvPr>
          <p:cNvSpPr txBox="1"/>
          <p:nvPr/>
        </p:nvSpPr>
        <p:spPr>
          <a:xfrm>
            <a:off x="666750" y="723900"/>
            <a:ext cx="14420850" cy="938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Contoh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Ouput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Dashboard Monitoring Query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E881D5E-FCF5-D5C4-C571-A202CB760557}"/>
              </a:ext>
            </a:extLst>
          </p:cNvPr>
          <p:cNvSpPr/>
          <p:nvPr/>
        </p:nvSpPr>
        <p:spPr>
          <a:xfrm flipV="1">
            <a:off x="11811000" y="9486900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5000E9-E395-DB51-2D9B-F1003A3DC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0744"/>
            <a:ext cx="16255770" cy="410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890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2552700"/>
            <a:ext cx="6886575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PgBackrest</a:t>
            </a:r>
            <a:endParaRPr lang="en-US" sz="7200" dirty="0">
              <a:solidFill>
                <a:srgbClr val="F5F5F5"/>
              </a:solidFill>
              <a:latin typeface="Georgia Pro Condensed Light"/>
              <a:ea typeface="Georgia Pro Condensed Light"/>
              <a:cs typeface="Georgia Pro Condensed Light"/>
              <a:sym typeface="Georgia Pro Condensed Light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50" y="7353300"/>
            <a:ext cx="6886575" cy="145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</a:pP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Tool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eksternal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backup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postgresql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yang open-source.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kelebihan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high performance, compression, backup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pitr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safety (encryption)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memanfaatkan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wal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archiving pada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postgresql</a:t>
            </a:r>
            <a:endParaRPr lang="en-US" sz="2100" dirty="0">
              <a:solidFill>
                <a:srgbClr val="F5F5F5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F42C1-0D1C-0DBC-96BF-2EB3CD21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8FBF87A-686B-21A6-2ADD-97BFF7C6AC7D}"/>
              </a:ext>
            </a:extLst>
          </p:cNvPr>
          <p:cNvSpPr txBox="1"/>
          <p:nvPr/>
        </p:nvSpPr>
        <p:spPr>
          <a:xfrm>
            <a:off x="666750" y="723900"/>
            <a:ext cx="16325850" cy="938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Contoh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Ouput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Backup DB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postgresql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via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PgBackrest</a:t>
            </a:r>
            <a:endParaRPr lang="en-US" sz="6000" dirty="0">
              <a:solidFill>
                <a:srgbClr val="F5F5F5"/>
              </a:solidFill>
              <a:latin typeface="Georgia Pro Condensed Light"/>
              <a:ea typeface="Georgia Pro Condensed Light"/>
              <a:cs typeface="Georgia Pro Condensed Light"/>
              <a:sym typeface="Georgia Pro Condensed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3B9A04-C93B-65F9-D7E3-7E4CF550D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400300"/>
            <a:ext cx="13961905" cy="332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69289D-2832-5651-5358-7691F7756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6201419"/>
            <a:ext cx="10744200" cy="336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25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4290" y="3162300"/>
            <a:ext cx="68865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Koordinasi</a:t>
            </a: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Tim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8" y="6286500"/>
            <a:ext cx="6886575" cy="2203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Komunikasi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dalam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devisi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saling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sinkron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saling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Contoh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khasus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apabila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terjadinya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cortex /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wazuh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down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bebarapa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server,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disini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it security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lebih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paham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sebagai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anggota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dalam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1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meja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Tidak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semuanya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IT BEM yang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ambil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kendali</a:t>
            </a:r>
            <a:endParaRPr lang="en-US" sz="2100" dirty="0">
              <a:solidFill>
                <a:srgbClr val="F5F5F5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19150" y="4109085"/>
            <a:ext cx="68865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Terima</a:t>
            </a: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Kasih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5952</TotalTime>
  <Words>353</Words>
  <Application>Microsoft Office PowerPoint</Application>
  <PresentationFormat>Custom</PresentationFormat>
  <Paragraphs>36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TT Interphases</vt:lpstr>
      <vt:lpstr>Aptos</vt:lpstr>
      <vt:lpstr>TT Interphases Bold</vt:lpstr>
      <vt:lpstr>Georgia Pro Condensed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- Monitoring dan Maintenance Database &amp; Server</dc:title>
  <dc:description>Presentasi - Monitoring dan Maintenance Database &amp; Server</dc:description>
  <cp:lastModifiedBy>Rizkyramdanidba</cp:lastModifiedBy>
  <cp:revision>19</cp:revision>
  <dcterms:created xsi:type="dcterms:W3CDTF">2006-08-16T00:00:00Z</dcterms:created>
  <dcterms:modified xsi:type="dcterms:W3CDTF">2026-03-31T13:23:13Z</dcterms:modified>
  <dc:identifier>DAHDjw5PzqY</dc:identifier>
</cp:coreProperties>
</file>